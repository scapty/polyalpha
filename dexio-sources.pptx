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finance.yahoo.com/news/25-polymarket-trading-volume-may-203104855.html" TargetMode="External"/><Relationship Id="rId3" Type="http://schemas.openxmlformats.org/officeDocument/2006/relationships/hyperlink" Target="https://medium.com/@balajibal/why-are-polymarket-betters-losing-money-af3cc506fd9a" TargetMode="External"/><Relationship Id="rId4" Type="http://schemas.openxmlformats.org/officeDocument/2006/relationships/hyperlink" Target="https://finbold.com/trading-bot-turns-313-into-438000-on-polymarket-in-a-month/" TargetMode="External"/><Relationship Id="rId5" Type="http://schemas.openxmlformats.org/officeDocument/2006/relationships/hyperlink" Target="https://arxiv.org/html/2508.03474v1" TargetMode="External"/><Relationship Id="rId6" Type="http://schemas.openxmlformats.org/officeDocument/2006/relationships/hyperlink" Target="https://ideas.repec.org/p/osf/socarx/d5yx2_v1.html" TargetMode="External"/><Relationship Id="rId7" Type="http://schemas.openxmlformats.org/officeDocument/2006/relationships/hyperlink" Target="https://phemex.com/news/article/ai-bot-generates-22m-in-two-months-on-polymarket-42804" TargetMode="External"/><Relationship Id="rId8" Type="http://schemas.openxmlformats.org/officeDocument/2006/relationships/hyperlink" Target="https://www.binance.com/en/square/post/34013233971537" TargetMode="External"/><Relationship Id="rId9" Type="http://schemas.openxmlformats.org/officeDocument/2006/relationships/hyperlink" Target="https://phemex.com/news/article/polymarket-faces-bot-dominance-traders-urged-to-seek-real-experts-57013" TargetMode="External"/><Relationship Id="rId10" Type="http://schemas.openxmlformats.org/officeDocument/2006/relationships/hyperlink" Target="https://coinmarketcap.com/academy/article/polymarket-introduces-fees-on-15-minute-crypto-bets" TargetMode="External"/><Relationship Id="rId11" Type="http://schemas.openxmlformats.org/officeDocument/2006/relationships/hyperlink" Target="https://www.coindesk.com/tech/2026/03/15/ai-agents-are-quietly-rewriting-prediction-market-trading" TargetMode="External"/><Relationship Id="rId12" Type="http://schemas.openxmlformats.org/officeDocument/2006/relationships/hyperlink" Target="https://www.bbc.com/news/articles/c77ed1e2r6zo" TargetMode="External"/><Relationship Id="rId13" Type="http://schemas.openxmlformats.org/officeDocument/2006/relationships/hyperlink" Target="https://www.theguardian.com/technology/2026/mar/24/kalshi-polymarket-insider-trading-regulation" TargetMode="External"/><Relationship Id="rId14" Type="http://schemas.openxmlformats.org/officeDocument/2006/relationships/hyperlink" Target="https://corpgov.law.harvard.edu/2026/03/25/from-iran-to-taylor-swift-informed-trading-in-prediction-markets/" TargetMode="External"/><Relationship Id="rId1" Type="http://schemas.openxmlformats.org/officeDocument/2006/relationships/image" Target="../media/Slide-1-image-1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011680" y="502920"/>
            <a:ext cx="6766560" cy="0"/>
          </a:xfrm>
          <a:prstGeom prst="line">
            <a:avLst/>
          </a:prstGeom>
          <a:noFill/>
          <a:ln w="5080">
            <a:solidFill>
              <a:srgbClr val="2DD4A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868680"/>
            <a:ext cx="4069080" cy="521208"/>
          </a:xfrm>
          <a:prstGeom prst="rect">
            <a:avLst/>
          </a:prstGeom>
          <a:solidFill>
            <a:srgbClr val="0D0D14">
              <a:alpha val="80000"/>
            </a:srgbClr>
          </a:solidFill>
          <a:ln w="3810">
            <a:solidFill>
              <a:srgbClr val="1A1D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941832"/>
            <a:ext cx="256032" cy="256032"/>
          </a:xfrm>
          <a:prstGeom prst="rect">
            <a:avLst/>
          </a:prstGeom>
          <a:solidFill>
            <a:srgbClr val="0D2E25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941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60120" y="9052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Yahoo. (2026). 25% of Polymarket trading volume may be artificial.</a:t>
            </a:r>
            <a:endParaRPr lang="en-US" sz="75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960120" y="11247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u="sng" dirty="0">
                <a:solidFill>
                  <a:srgbClr val="2DD4A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https://finance.yahoo.com/news/25-polymarket-trading-volume-may-203104855.html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548640" y="1435608"/>
            <a:ext cx="4069080" cy="521208"/>
          </a:xfrm>
          <a:prstGeom prst="rect">
            <a:avLst/>
          </a:prstGeom>
          <a:solidFill>
            <a:srgbClr val="0D0D14">
              <a:alpha val="80000"/>
            </a:srgbClr>
          </a:solidFill>
          <a:ln w="3810">
            <a:solidFill>
              <a:srgbClr val="1A1D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508760"/>
            <a:ext cx="256032" cy="256032"/>
          </a:xfrm>
          <a:prstGeom prst="rect">
            <a:avLst/>
          </a:prstGeom>
          <a:solidFill>
            <a:srgbClr val="0D2E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60120" y="14721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Balaji, B. (2026). Why are Polymarket bettors losing money? Medium.</a:t>
            </a:r>
            <a:endParaRPr lang="en-US" sz="750" dirty="0"/>
          </a:p>
        </p:txBody>
      </p:sp>
      <p:sp>
        <p:nvSpPr>
          <p:cNvPr id="13" name="Text 11">
            <a:hlinkClick r:id="rId3" tooltip=""/>
          </p:cNvPr>
          <p:cNvSpPr/>
          <p:nvPr/>
        </p:nvSpPr>
        <p:spPr>
          <a:xfrm>
            <a:off x="960120" y="16916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u="sng" dirty="0">
                <a:solidFill>
                  <a:srgbClr val="2DD4A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https://medium.com/@balajibal/why-are-polymarket-betters-losing-money-af3cc506fd9a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548640" y="2002536"/>
            <a:ext cx="4069080" cy="521208"/>
          </a:xfrm>
          <a:prstGeom prst="rect">
            <a:avLst/>
          </a:prstGeom>
          <a:solidFill>
            <a:srgbClr val="0D0D14">
              <a:alpha val="80000"/>
            </a:srgbClr>
          </a:solidFill>
          <a:ln w="3810">
            <a:solidFill>
              <a:srgbClr val="1A1D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075688"/>
            <a:ext cx="256032" cy="256032"/>
          </a:xfrm>
          <a:prstGeom prst="rect">
            <a:avLst/>
          </a:prstGeom>
          <a:solidFill>
            <a:srgbClr val="0D2E25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075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0120" y="20391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Finbold. (2026). Trading bot turns $313 into $438,000 on Polymarket in a month.</a:t>
            </a:r>
            <a:endParaRPr lang="en-US" sz="750" dirty="0"/>
          </a:p>
        </p:txBody>
      </p:sp>
      <p:sp>
        <p:nvSpPr>
          <p:cNvPr id="18" name="Text 16">
            <a:hlinkClick r:id="rId4" tooltip=""/>
          </p:cNvPr>
          <p:cNvSpPr/>
          <p:nvPr/>
        </p:nvSpPr>
        <p:spPr>
          <a:xfrm>
            <a:off x="960120" y="22585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u="sng" dirty="0">
                <a:solidFill>
                  <a:srgbClr val="2DD4A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https://finbold.com/trading-bot-turns-313-into-438000-on-polymarket-in-a-month/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48640" y="2569464"/>
            <a:ext cx="4069080" cy="521208"/>
          </a:xfrm>
          <a:prstGeom prst="rect">
            <a:avLst/>
          </a:prstGeom>
          <a:solidFill>
            <a:srgbClr val="0D0D14">
              <a:alpha val="80000"/>
            </a:srgbClr>
          </a:solidFill>
          <a:ln w="3810">
            <a:solidFill>
              <a:srgbClr val="1A1D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2642616"/>
            <a:ext cx="256032" cy="256032"/>
          </a:xfrm>
          <a:prstGeom prst="rect">
            <a:avLst/>
          </a:prstGeom>
          <a:solidFill>
            <a:srgbClr val="0D2E25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2642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60120" y="26060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Saguillo, J., et al. (2025). Unravelling the probabilistic forest: Arbitrage in prediction markets. arXiv.</a:t>
            </a:r>
            <a:endParaRPr lang="en-US" sz="750" dirty="0"/>
          </a:p>
        </p:txBody>
      </p:sp>
      <p:sp>
        <p:nvSpPr>
          <p:cNvPr id="23" name="Text 21">
            <a:hlinkClick r:id="rId5" tooltip=""/>
          </p:cNvPr>
          <p:cNvSpPr/>
          <p:nvPr/>
        </p:nvSpPr>
        <p:spPr>
          <a:xfrm>
            <a:off x="960120" y="28254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u="sng" dirty="0">
                <a:solidFill>
                  <a:srgbClr val="2DD4A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https://arxiv.org/html/2508.03474v1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48640" y="3136392"/>
            <a:ext cx="4069080" cy="521208"/>
          </a:xfrm>
          <a:prstGeom prst="rect">
            <a:avLst/>
          </a:prstGeom>
          <a:solidFill>
            <a:srgbClr val="0D0D14">
              <a:alpha val="80000"/>
            </a:srgbClr>
          </a:solidFill>
          <a:ln w="3810">
            <a:solidFill>
              <a:srgbClr val="1A1D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" y="3209544"/>
            <a:ext cx="256032" cy="256032"/>
          </a:xfrm>
          <a:prstGeom prst="rect">
            <a:avLst/>
          </a:prstGeom>
          <a:solidFill>
            <a:srgbClr val="0D2E25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3209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60120" y="31729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Clinton, J., &amp; Huang, T. (2025). Are prediction markets accurate? Evidence from the 2024 U.S. election. SocArXiv.</a:t>
            </a:r>
            <a:endParaRPr lang="en-US" sz="750" dirty="0"/>
          </a:p>
        </p:txBody>
      </p:sp>
      <p:sp>
        <p:nvSpPr>
          <p:cNvPr id="28" name="Text 26">
            <a:hlinkClick r:id="rId6" tooltip=""/>
          </p:cNvPr>
          <p:cNvSpPr/>
          <p:nvPr/>
        </p:nvSpPr>
        <p:spPr>
          <a:xfrm>
            <a:off x="960120" y="33924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u="sng" dirty="0">
                <a:solidFill>
                  <a:srgbClr val="2DD4A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https://ideas.repec.org/p/osf/socarx/d5yx2_v1.html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548640" y="3703320"/>
            <a:ext cx="4069080" cy="521208"/>
          </a:xfrm>
          <a:prstGeom prst="rect">
            <a:avLst/>
          </a:prstGeom>
          <a:solidFill>
            <a:srgbClr val="0D0D14">
              <a:alpha val="80000"/>
            </a:srgbClr>
          </a:solidFill>
          <a:ln w="3810">
            <a:solidFill>
              <a:srgbClr val="1A1D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" y="3776472"/>
            <a:ext cx="256032" cy="256032"/>
          </a:xfrm>
          <a:prstGeom prst="rect">
            <a:avLst/>
          </a:prstGeom>
          <a:solidFill>
            <a:srgbClr val="0D2E25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3776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60120" y="37398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Phemex. (2026). AI bot generates $2.2M in two months on Polymarket.</a:t>
            </a:r>
            <a:endParaRPr lang="en-US" sz="750" dirty="0"/>
          </a:p>
        </p:txBody>
      </p:sp>
      <p:sp>
        <p:nvSpPr>
          <p:cNvPr id="33" name="Text 31">
            <a:hlinkClick r:id="rId7" tooltip=""/>
          </p:cNvPr>
          <p:cNvSpPr/>
          <p:nvPr/>
        </p:nvSpPr>
        <p:spPr>
          <a:xfrm>
            <a:off x="960120" y="39593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u="sng" dirty="0">
                <a:solidFill>
                  <a:srgbClr val="2DD4A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https://phemex.com/news/article/ai-bot-generates-22m-in-two-months-on-polymarket-42804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548640" y="4270248"/>
            <a:ext cx="4069080" cy="521208"/>
          </a:xfrm>
          <a:prstGeom prst="rect">
            <a:avLst/>
          </a:prstGeom>
          <a:solidFill>
            <a:srgbClr val="0D0D14">
              <a:alpha val="80000"/>
            </a:srgbClr>
          </a:solidFill>
          <a:ln w="3810">
            <a:solidFill>
              <a:srgbClr val="1A1D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" y="4343400"/>
            <a:ext cx="256032" cy="256032"/>
          </a:xfrm>
          <a:prstGeom prst="rect">
            <a:avLst/>
          </a:prstGeom>
          <a:solidFill>
            <a:srgbClr val="0D2E25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" y="4343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60120" y="43068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Binance. (2026). Market-making bot profits on Polymarket.</a:t>
            </a:r>
            <a:endParaRPr lang="en-US" sz="750" dirty="0"/>
          </a:p>
        </p:txBody>
      </p:sp>
      <p:sp>
        <p:nvSpPr>
          <p:cNvPr id="38" name="Text 36">
            <a:hlinkClick r:id="rId8" tooltip=""/>
          </p:cNvPr>
          <p:cNvSpPr/>
          <p:nvPr/>
        </p:nvSpPr>
        <p:spPr>
          <a:xfrm>
            <a:off x="960120" y="45262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u="sng" dirty="0">
                <a:solidFill>
                  <a:srgbClr val="2DD4A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https://www.binance.com/en/square/post/34013233971537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4709160" y="868680"/>
            <a:ext cx="4069080" cy="521208"/>
          </a:xfrm>
          <a:prstGeom prst="rect">
            <a:avLst/>
          </a:prstGeom>
          <a:solidFill>
            <a:srgbClr val="0D0D14">
              <a:alpha val="80000"/>
            </a:srgbClr>
          </a:solidFill>
          <a:ln w="3810">
            <a:solidFill>
              <a:srgbClr val="1A1D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82312" y="941832"/>
            <a:ext cx="256032" cy="256032"/>
          </a:xfrm>
          <a:prstGeom prst="rect">
            <a:avLst/>
          </a:prstGeom>
          <a:solidFill>
            <a:srgbClr val="0D2E25"/>
          </a:solidFill>
          <a:ln/>
        </p:spPr>
      </p:sp>
      <p:sp>
        <p:nvSpPr>
          <p:cNvPr id="41" name="Text 39"/>
          <p:cNvSpPr/>
          <p:nvPr/>
        </p:nvSpPr>
        <p:spPr>
          <a:xfrm>
            <a:off x="4782312" y="941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20640" y="9052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Phemex. (2026). Polymarket faces bot dominance, traders urged to seek real experts.</a:t>
            </a:r>
            <a:endParaRPr lang="en-US" sz="750" dirty="0"/>
          </a:p>
        </p:txBody>
      </p:sp>
      <p:sp>
        <p:nvSpPr>
          <p:cNvPr id="43" name="Text 41">
            <a:hlinkClick r:id="rId9" tooltip=""/>
          </p:cNvPr>
          <p:cNvSpPr/>
          <p:nvPr/>
        </p:nvSpPr>
        <p:spPr>
          <a:xfrm>
            <a:off x="5120640" y="11247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u="sng" dirty="0">
                <a:solidFill>
                  <a:srgbClr val="2DD4A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https://phemex.com/news/article/polymarket-faces-bot-dominance-traders-urged-to-seek-real-experts-57013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4709160" y="1435608"/>
            <a:ext cx="4069080" cy="521208"/>
          </a:xfrm>
          <a:prstGeom prst="rect">
            <a:avLst/>
          </a:prstGeom>
          <a:solidFill>
            <a:srgbClr val="0D0D14">
              <a:alpha val="80000"/>
            </a:srgbClr>
          </a:solidFill>
          <a:ln w="3810">
            <a:solidFill>
              <a:srgbClr val="1A1D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82312" y="1508760"/>
            <a:ext cx="256032" cy="256032"/>
          </a:xfrm>
          <a:prstGeom prst="rect">
            <a:avLst/>
          </a:prstGeom>
          <a:solidFill>
            <a:srgbClr val="0D2E25"/>
          </a:solidFill>
          <a:ln/>
        </p:spPr>
      </p:sp>
      <p:sp>
        <p:nvSpPr>
          <p:cNvPr id="46" name="Text 44"/>
          <p:cNvSpPr/>
          <p:nvPr/>
        </p:nvSpPr>
        <p:spPr>
          <a:xfrm>
            <a:off x="4782312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20640" y="14721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CoinMarketCap. (2026). Polymarket introduces fees on 15-minute crypto bets.</a:t>
            </a:r>
            <a:endParaRPr lang="en-US" sz="750" dirty="0"/>
          </a:p>
        </p:txBody>
      </p:sp>
      <p:sp>
        <p:nvSpPr>
          <p:cNvPr id="48" name="Text 46">
            <a:hlinkClick r:id="rId10" tooltip=""/>
          </p:cNvPr>
          <p:cNvSpPr/>
          <p:nvPr/>
        </p:nvSpPr>
        <p:spPr>
          <a:xfrm>
            <a:off x="5120640" y="16916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u="sng" dirty="0">
                <a:solidFill>
                  <a:srgbClr val="2DD4A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https://coinmarketcap.com/academy/article/polymarket-introduces-fees-on-15-minute-crypto-bets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4709160" y="2002536"/>
            <a:ext cx="4069080" cy="521208"/>
          </a:xfrm>
          <a:prstGeom prst="rect">
            <a:avLst/>
          </a:prstGeom>
          <a:solidFill>
            <a:srgbClr val="0D0D14">
              <a:alpha val="80000"/>
            </a:srgbClr>
          </a:solidFill>
          <a:ln w="3810">
            <a:solidFill>
              <a:srgbClr val="1A1D2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82312" y="2075688"/>
            <a:ext cx="256032" cy="256032"/>
          </a:xfrm>
          <a:prstGeom prst="rect">
            <a:avLst/>
          </a:prstGeom>
          <a:solidFill>
            <a:srgbClr val="0D2E25"/>
          </a:solidFill>
          <a:ln/>
        </p:spPr>
      </p:sp>
      <p:sp>
        <p:nvSpPr>
          <p:cNvPr id="51" name="Text 49"/>
          <p:cNvSpPr/>
          <p:nvPr/>
        </p:nvSpPr>
        <p:spPr>
          <a:xfrm>
            <a:off x="4782312" y="2075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20640" y="20391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CoinDesk. (2026). AI agents are quietly rewriting prediction market trading.</a:t>
            </a:r>
            <a:endParaRPr lang="en-US" sz="750" dirty="0"/>
          </a:p>
        </p:txBody>
      </p:sp>
      <p:sp>
        <p:nvSpPr>
          <p:cNvPr id="53" name="Text 51">
            <a:hlinkClick r:id="rId11" tooltip=""/>
          </p:cNvPr>
          <p:cNvSpPr/>
          <p:nvPr/>
        </p:nvSpPr>
        <p:spPr>
          <a:xfrm>
            <a:off x="5120640" y="22585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u="sng" dirty="0">
                <a:solidFill>
                  <a:srgbClr val="2DD4A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https://www.coindesk.com/tech/2026/03/15/ai-agents-are-quietly-rewriting-prediction-market-trading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4709160" y="2569464"/>
            <a:ext cx="4069080" cy="521208"/>
          </a:xfrm>
          <a:prstGeom prst="rect">
            <a:avLst/>
          </a:prstGeom>
          <a:solidFill>
            <a:srgbClr val="0D0D14">
              <a:alpha val="80000"/>
            </a:srgbClr>
          </a:solidFill>
          <a:ln w="3810">
            <a:solidFill>
              <a:srgbClr val="1A1D2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82312" y="2642616"/>
            <a:ext cx="256032" cy="256032"/>
          </a:xfrm>
          <a:prstGeom prst="rect">
            <a:avLst/>
          </a:prstGeom>
          <a:solidFill>
            <a:srgbClr val="0D2E25"/>
          </a:solidFill>
          <a:ln/>
        </p:spPr>
      </p:sp>
      <p:sp>
        <p:nvSpPr>
          <p:cNvPr id="56" name="Text 54"/>
          <p:cNvSpPr/>
          <p:nvPr/>
        </p:nvSpPr>
        <p:spPr>
          <a:xfrm>
            <a:off x="4782312" y="2642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120640" y="26060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BBC News. (2026). MrBeast editor banned over betting on unreleased content.</a:t>
            </a:r>
            <a:endParaRPr lang="en-US" sz="750" dirty="0"/>
          </a:p>
        </p:txBody>
      </p:sp>
      <p:sp>
        <p:nvSpPr>
          <p:cNvPr id="58" name="Text 56">
            <a:hlinkClick r:id="rId12" tooltip=""/>
          </p:cNvPr>
          <p:cNvSpPr/>
          <p:nvPr/>
        </p:nvSpPr>
        <p:spPr>
          <a:xfrm>
            <a:off x="5120640" y="28254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u="sng" dirty="0">
                <a:solidFill>
                  <a:srgbClr val="2DD4A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https://www.bbc.com/news/articles/c77ed1e2r6zo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4709160" y="3136392"/>
            <a:ext cx="4069080" cy="521208"/>
          </a:xfrm>
          <a:prstGeom prst="rect">
            <a:avLst/>
          </a:prstGeom>
          <a:solidFill>
            <a:srgbClr val="0D0D14">
              <a:alpha val="80000"/>
            </a:srgbClr>
          </a:solidFill>
          <a:ln w="3810">
            <a:solidFill>
              <a:srgbClr val="1A1D2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82312" y="3209544"/>
            <a:ext cx="256032" cy="256032"/>
          </a:xfrm>
          <a:prstGeom prst="rect">
            <a:avLst/>
          </a:prstGeom>
          <a:solidFill>
            <a:srgbClr val="0D2E25"/>
          </a:solidFill>
          <a:ln/>
        </p:spPr>
      </p:sp>
      <p:sp>
        <p:nvSpPr>
          <p:cNvPr id="61" name="Text 59"/>
          <p:cNvSpPr/>
          <p:nvPr/>
        </p:nvSpPr>
        <p:spPr>
          <a:xfrm>
            <a:off x="4782312" y="3209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20640" y="31729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Guardian. (2026, March 24). Kalshi and Polymarket face insider trading scrutiny.</a:t>
            </a:r>
            <a:endParaRPr lang="en-US" sz="750" dirty="0"/>
          </a:p>
        </p:txBody>
      </p:sp>
      <p:sp>
        <p:nvSpPr>
          <p:cNvPr id="63" name="Text 61">
            <a:hlinkClick r:id="rId13" tooltip=""/>
          </p:cNvPr>
          <p:cNvSpPr/>
          <p:nvPr/>
        </p:nvSpPr>
        <p:spPr>
          <a:xfrm>
            <a:off x="5120640" y="33924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u="sng" dirty="0">
                <a:solidFill>
                  <a:srgbClr val="2DD4A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https://www.theguardian.com/technology/2026/mar/24/kalshi-polymarket-insider-trading-regulation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4709160" y="3703320"/>
            <a:ext cx="4069080" cy="521208"/>
          </a:xfrm>
          <a:prstGeom prst="rect">
            <a:avLst/>
          </a:prstGeom>
          <a:solidFill>
            <a:srgbClr val="0D0D14">
              <a:alpha val="80000"/>
            </a:srgbClr>
          </a:solidFill>
          <a:ln w="3810">
            <a:solidFill>
              <a:srgbClr val="1A1D2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82312" y="3776472"/>
            <a:ext cx="256032" cy="256032"/>
          </a:xfrm>
          <a:prstGeom prst="rect">
            <a:avLst/>
          </a:prstGeom>
          <a:solidFill>
            <a:srgbClr val="0D2E25"/>
          </a:solidFill>
          <a:ln/>
        </p:spPr>
      </p:sp>
      <p:sp>
        <p:nvSpPr>
          <p:cNvPr id="66" name="Text 64"/>
          <p:cNvSpPr/>
          <p:nvPr/>
        </p:nvSpPr>
        <p:spPr>
          <a:xfrm>
            <a:off x="4782312" y="3776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120640" y="37398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 Law School Forum on Corporate Governance. (2026). From Iran to Taylor Swift: Informed trading in prediction markets.</a:t>
            </a:r>
            <a:endParaRPr lang="en-US" sz="750" dirty="0"/>
          </a:p>
        </p:txBody>
      </p:sp>
      <p:sp>
        <p:nvSpPr>
          <p:cNvPr id="68" name="Text 66">
            <a:hlinkClick r:id="rId14" tooltip=""/>
          </p:cNvPr>
          <p:cNvSpPr/>
          <p:nvPr/>
        </p:nvSpPr>
        <p:spPr>
          <a:xfrm>
            <a:off x="5120640" y="39593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u="sng" dirty="0">
                <a:solidFill>
                  <a:srgbClr val="2DD4A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https://corpgov.law.harvard.edu/2026/03/25/from-iran-to-taylor-swift-informed-trading-in-prediction-markets/</a:t>
            </a:r>
            <a:endParaRPr lang="en-US" sz="600" dirty="0"/>
          </a:p>
        </p:txBody>
      </p:sp>
      <p:sp>
        <p:nvSpPr>
          <p:cNvPr id="69" name="Shape 67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6350">
            <a:solidFill>
              <a:srgbClr val="1A1D2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FNCE313 — SMU Singapore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Dexio Sources</dc:title>
  <dc:subject>PptxGenJS Presentation</dc:subject>
  <dc:creator>PptxGenJS</dc:creator>
  <cp:lastModifiedBy>PptxGenJS</cp:lastModifiedBy>
  <cp:revision>1</cp:revision>
  <dcterms:created xsi:type="dcterms:W3CDTF">2026-03-30T08:31:15Z</dcterms:created>
  <dcterms:modified xsi:type="dcterms:W3CDTF">2026-03-30T08:31:15Z</dcterms:modified>
</cp:coreProperties>
</file>